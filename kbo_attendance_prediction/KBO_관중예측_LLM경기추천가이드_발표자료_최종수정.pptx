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881360" cy="5349240"/>
          </a:xfrm>
          <a:prstGeom prst="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10881360" cy="146304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132588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1F2C"/>
                </a:solidFill>
                <a:latin typeface="Malgun Gothic"/>
              </a:rPr>
              <a:t>KBO 관중 수 예측 기반
LLM 경기 추천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65176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96774"/>
                </a:solidFill>
                <a:latin typeface="Malgun Gothic"/>
              </a:rPr>
              <a:t>딥러닝 예측 결과를 경기 추천과 예매 의사결정으로 확장한 AI 서비스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" y="3429000"/>
            <a:ext cx="1874519" cy="502920"/>
          </a:xfrm>
          <a:prstGeom prst="rect">
            <a:avLst/>
          </a:prstGeom>
          <a:solidFill>
            <a:srgbClr val="E7F1ED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557016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4C43"/>
                </a:solidFill>
                <a:latin typeface="Malgun Gothic"/>
              </a:rPr>
              <a:t>Dense 예측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5848" y="3429000"/>
            <a:ext cx="1874519" cy="502920"/>
          </a:xfrm>
          <a:prstGeom prst="rect">
            <a:avLst/>
          </a:prstGeom>
          <a:solidFill>
            <a:srgbClr val="F6EBE2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3557016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7A4F"/>
                </a:solidFill>
                <a:latin typeface="Malgun Gothic"/>
              </a:rPr>
              <a:t>FAISS 검색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96128" y="3429000"/>
            <a:ext cx="1874519" cy="502920"/>
          </a:xfrm>
          <a:prstGeom prst="rect">
            <a:avLst/>
          </a:prstGeom>
          <a:solidFill>
            <a:srgbClr val="E8F1F6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6128" y="3557016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15D7D"/>
                </a:solidFill>
                <a:latin typeface="Malgun Gothic"/>
              </a:rPr>
              <a:t>Ollama 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6408" y="3429000"/>
            <a:ext cx="1874519" cy="502920"/>
          </a:xfrm>
          <a:prstGeom prst="rect">
            <a:avLst/>
          </a:prstGeom>
          <a:solidFill>
            <a:srgbClr val="E7F1ED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3557016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4C43"/>
                </a:solidFill>
                <a:latin typeface="Malgun Gothic"/>
              </a:rPr>
              <a:t>경기 추천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9834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58"/>
                </a:solidFill>
                <a:latin typeface="Malgun Gothic"/>
              </a:rPr>
              <a:t>2026.04.20.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535838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774"/>
                </a:solidFill>
                <a:latin typeface="Malgun Gothic"/>
              </a:rPr>
              <a:t>권우영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121F2C"/>
                </a:solidFill>
                <a:latin typeface="Malgun Gothic"/>
              </a:defRPr>
            </a:pPr>
            <a:r>
              <a:t>1. 프로젝트 배경과 목표</a:t>
            </a:r>
          </a:p>
          <a:p>
            <a:pPr>
              <a:spcAft>
                <a:spcPts val="900"/>
              </a:spcAft>
              <a:defRPr sz="2100">
                <a:solidFill>
                  <a:srgbClr val="121F2C"/>
                </a:solidFill>
                <a:latin typeface="Malgun Gothic"/>
              </a:defRPr>
            </a:pPr>
            <a:r>
              <a:t>2. 데이터 구성과 전처리</a:t>
            </a:r>
          </a:p>
          <a:p>
            <a:pPr>
              <a:spcAft>
                <a:spcPts val="900"/>
              </a:spcAft>
              <a:defRPr sz="2100">
                <a:solidFill>
                  <a:srgbClr val="121F2C"/>
                </a:solidFill>
                <a:latin typeface="Malgun Gothic"/>
              </a:defRPr>
            </a:pPr>
            <a:r>
              <a:t>3. 딥러닝 관중 수 예측 모델</a:t>
            </a:r>
          </a:p>
          <a:p>
            <a:pPr>
              <a:spcAft>
                <a:spcPts val="900"/>
              </a:spcAft>
              <a:defRPr sz="2100">
                <a:solidFill>
                  <a:srgbClr val="121F2C"/>
                </a:solidFill>
                <a:latin typeface="Malgun Gothic"/>
              </a:defRPr>
            </a:pPr>
            <a:r>
              <a:t>4. 시각화 기반 관중 패턴 분석</a:t>
            </a:r>
          </a:p>
          <a:p>
            <a:pPr>
              <a:spcAft>
                <a:spcPts val="900"/>
              </a:spcAft>
              <a:defRPr sz="2100">
                <a:solidFill>
                  <a:srgbClr val="121F2C"/>
                </a:solidFill>
                <a:latin typeface="Malgun Gothic"/>
              </a:defRPr>
            </a:pPr>
            <a:r>
              <a:t>5. LLM/RAG 기반 경기 추천 가이드 확장</a:t>
            </a:r>
          </a:p>
          <a:p>
            <a:pPr>
              <a:spcAft>
                <a:spcPts val="900"/>
              </a:spcAft>
              <a:defRPr sz="2100">
                <a:solidFill>
                  <a:srgbClr val="121F2C"/>
                </a:solidFill>
                <a:latin typeface="Malgun Gothic"/>
              </a:defRPr>
            </a:pPr>
            <a:r>
              <a:t>6. 프로토타입, 한계점, 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1783080"/>
            <a:ext cx="4160520" cy="3063240"/>
          </a:xfrm>
          <a:prstGeom prst="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21488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6F58"/>
                </a:solidFill>
                <a:latin typeface="Malgun Gothic"/>
              </a:rPr>
              <a:t>발표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78892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21F2C"/>
                </a:solidFill>
                <a:latin typeface="Malgun Gothic"/>
              </a:rPr>
              <a:t>관중 수를 예측하는 데서 끝나지 않고,
사용자가 언제 어떤 경기를 예매할지 판단하도록 돕는 AI 서비스로 확장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프로젝트 배경과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394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21F2C"/>
                </a:solidFill>
                <a:latin typeface="Malgun Gothic"/>
              </a:defRPr>
            </a:pPr>
            <a:r>
              <a:t>KBO 경기 관중 수는 팀, 구장, 요일, 공휴일, 라이벌전 여부에 따라 크게 달라짐</a:t>
            </a:r>
          </a:p>
          <a:p>
            <a:pPr>
              <a:spcAft>
                <a:spcPts val="900"/>
              </a:spcAft>
              <a:defRPr sz="2000">
                <a:solidFill>
                  <a:srgbClr val="121F2C"/>
                </a:solidFill>
                <a:latin typeface="Malgun Gothic"/>
              </a:defRPr>
            </a:pPr>
            <a:r>
              <a:t>사용자는 인기 경기와 혼잡도를 예매 전에 미리 알고 싶어 함</a:t>
            </a:r>
          </a:p>
          <a:p>
            <a:pPr>
              <a:spcAft>
                <a:spcPts val="900"/>
              </a:spcAft>
              <a:defRPr sz="2000">
                <a:solidFill>
                  <a:srgbClr val="121F2C"/>
                </a:solidFill>
                <a:latin typeface="Malgun Gothic"/>
              </a:defRPr>
            </a:pPr>
            <a:r>
              <a:t>기존 딥러닝 예측 결과를 실제 의사결정 서비스로 연결하는 것이 프로젝트의 확장 목표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783080"/>
            <a:ext cx="4434840" cy="2697480"/>
          </a:xfrm>
          <a:prstGeom prst="rect">
            <a:avLst/>
          </a:prstGeom>
          <a:solidFill>
            <a:srgbClr val="E7F1ED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14884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6F58"/>
                </a:solidFill>
                <a:latin typeface="Malgun Gothic"/>
              </a:rPr>
              <a:t>문제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78892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1F2C"/>
                </a:solidFill>
                <a:latin typeface="Malgun Gothic"/>
              </a:rPr>
              <a:t>“이 경기는 얼마나 붐빌까?”
“언제 예매해야 할까?”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데이터 구성과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2024~2026 KBO 경기 일정 및 실제 관중 데이터 사용</a:t>
            </a:r>
          </a:p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주요 변수: 날짜, 요일, 홈팀, 원정팀, 구장, 관중 수, 공휴일 여부, 시즌</a:t>
            </a:r>
          </a:p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관중 수가 있는 실제 경기만 학습/시각화에 사용</a:t>
            </a:r>
          </a:p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향후 일정은 예측과 추천 서비스의 입력 데이터로 활용</a:t>
            </a:r>
          </a:p>
        </p:txBody>
      </p:sp>
      <p:pic>
        <p:nvPicPr>
          <p:cNvPr id="8" name="Picture 7" descr="home_team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45920"/>
            <a:ext cx="484632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4892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96774"/>
                </a:solidFill>
                <a:latin typeface="Malgun Gothic"/>
              </a:rPr>
              <a:t>노트북 시각화 자료 활용: 홈팀별 평균 관중 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딥러닝 예측 모델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2461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6F58"/>
                </a:solidFill>
                <a:latin typeface="Malgun Gothic"/>
              </a:rPr>
              <a:t>입력 특성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2606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121F2C"/>
                </a:solidFill>
                <a:latin typeface="Malgun Gothic"/>
              </a:rPr>
              <a:t>홈팀, 원정팀, 구장
월, 요일, 주말
공휴일, 라이벌전, 시즌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783080"/>
            <a:ext cx="32461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1031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6F58"/>
                </a:solidFill>
                <a:latin typeface="Malgun Gothic"/>
              </a:rPr>
              <a:t>예측 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743200"/>
            <a:ext cx="2606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121F2C"/>
                </a:solidFill>
                <a:latin typeface="Malgun Gothic"/>
              </a:rPr>
              <a:t>Dense
LSTM
GRU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783080"/>
            <a:ext cx="32461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1031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6F58"/>
                </a:solidFill>
                <a:latin typeface="Malgun Gothic"/>
              </a:rPr>
              <a:t>출력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43200"/>
            <a:ext cx="2606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121F2C"/>
                </a:solidFill>
                <a:latin typeface="Malgun Gothic"/>
              </a:rPr>
              <a:t>예상 관중 수
좌석 점유율
예매 혼잡도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1F2C"/>
                </a:solidFill>
                <a:latin typeface="Malgun Gothic"/>
              </a:rPr>
              <a:t>딥러닝 모델은 수치 예측을 담당하고, LLM은 예측 결과의 설명과 추천을 담당하도록 역할을 분리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모델 성능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57784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20840" y="1737360"/>
            <a:ext cx="420624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F6F58"/>
                </a:solidFill>
                <a:latin typeface="Malgun Gothic"/>
              </a:rPr>
              <a:t>선정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65176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1F2C"/>
                </a:solidFill>
                <a:latin typeface="Malgun Gothic"/>
              </a:rPr>
              <a:t>가장 낮은 MAE를 보인 Dense 모델을 기본 예측 모델로 사용
MAE 약 3,863명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관중 패턴 시각화 인사이트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nthly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5349240" cy="2926080"/>
          </a:xfrm>
          <a:prstGeom prst="rect">
            <a:avLst/>
          </a:prstGeom>
        </p:spPr>
      </p:pic>
      <p:pic>
        <p:nvPicPr>
          <p:cNvPr id="8" name="Picture 7" descr="weekday_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493776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89204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596774"/>
                </a:solidFill>
                <a:latin typeface="Malgun Gothic"/>
              </a:defRPr>
            </a:pPr>
            <a:r>
              <a:t>월별, 요일별 관중 흐름은 예매 추천의 핵심 근거가 됨</a:t>
            </a:r>
          </a:p>
          <a:p>
            <a:pPr>
              <a:spcAft>
                <a:spcPts val="900"/>
              </a:spcAft>
              <a:defRPr sz="1500">
                <a:solidFill>
                  <a:srgbClr val="596774"/>
                </a:solidFill>
                <a:latin typeface="Malgun Gothic"/>
              </a:defRPr>
            </a:pPr>
            <a:r>
              <a:t>주말/공휴일/인기 팀 경기는 혼잡도와 매진 가능성을 함께 안내해야 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LLM 확장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2240280" cy="1600200"/>
          </a:xfrm>
          <a:prstGeom prst="rect">
            <a:avLst/>
          </a:prstGeom>
          <a:solidFill>
            <a:srgbClr val="E7F1ED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6F58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9933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1F2C"/>
                </a:solidFill>
                <a:latin typeface="Malgun Gothic"/>
              </a:rPr>
              <a:t>예측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603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21F2C"/>
                </a:solidFill>
                <a:latin typeface="Malgun Gothic"/>
              </a:rPr>
              <a:t>Dense 모델로
예상 관중 산출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11296" y="1828800"/>
            <a:ext cx="2240280" cy="1600200"/>
          </a:xfrm>
          <a:prstGeom prst="rect">
            <a:avLst/>
          </a:prstGeom>
          <a:solidFill>
            <a:srgbClr val="F6EBE2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2011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6F58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656" y="19933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1F2C"/>
                </a:solidFill>
                <a:latin typeface="Malgun Gothic"/>
              </a:rPr>
              <a:t>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25603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21F2C"/>
                </a:solidFill>
                <a:latin typeface="Malgun Gothic"/>
              </a:rPr>
              <a:t>유사 경기와
과거 관중 패턴 검색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4224" y="1828800"/>
            <a:ext cx="2240280" cy="1600200"/>
          </a:xfrm>
          <a:prstGeom prst="rect">
            <a:avLst/>
          </a:prstGeom>
          <a:solidFill>
            <a:srgbClr val="E7F1ED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011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6F58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19933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1F2C"/>
                </a:solidFill>
                <a:latin typeface="Malgun Gothic"/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5603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21F2C"/>
                </a:solidFill>
                <a:latin typeface="Malgun Gothic"/>
              </a:rPr>
              <a:t>질문 의도를 반영해
추천 답변 생성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17152" y="1828800"/>
            <a:ext cx="2240280" cy="1600200"/>
          </a:xfrm>
          <a:prstGeom prst="rect">
            <a:avLst/>
          </a:prstGeom>
          <a:solidFill>
            <a:srgbClr val="F6EBE2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2011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6F58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2" y="19933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1F2C"/>
                </a:solidFill>
                <a:latin typeface="Malgun Gothic"/>
              </a:rPr>
              <a:t>서비스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5603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21F2C"/>
                </a:solidFill>
                <a:latin typeface="Malgun Gothic"/>
              </a:rPr>
              <a:t>예매 시점과
혼잡도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519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1F2C"/>
                </a:solidFill>
                <a:latin typeface="Malgun Gothic"/>
              </a:rPr>
              <a:t>노트북 시각화 자료는 LLM 답변의 근거를 설명하는 보조 자료로 활용하고,
발표의 중심은 실제 경기 추천 가이드 서비스 흐름에 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RAG 기반 추천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각 경기 정보를 한 문장짜리 검색 문서로 변환</a:t>
            </a:r>
          </a:p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TF-IDF로 질문과 문서의 텍스트 유사도를 계산</a:t>
            </a:r>
          </a:p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FAISS로 유사 경기 후보를 빠르게 검색</a:t>
            </a:r>
          </a:p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검색 결과와 예측값을 LLM 프롬프트에 넣어 추천 답변 생성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526280" cy="2880360"/>
          </a:xfrm>
          <a:prstGeom prst="rect">
            <a:avLst/>
          </a:prstGeom>
          <a:solidFill>
            <a:srgbClr val="E8F1F6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103120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15D7D"/>
                </a:solidFill>
                <a:latin typeface="Malgun Gothic"/>
              </a:rPr>
              <a:t>예시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743200"/>
            <a:ext cx="3794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21F2C"/>
                </a:solidFill>
                <a:latin typeface="Malgun Gothic"/>
              </a:rPr>
              <a:t>“주말에 가족이 보기 좋고
관중이 많은 인기 경기 추천해줘”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LLM 추천 후보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lm_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54480"/>
            <a:ext cx="571500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12280" y="1737360"/>
            <a:ext cx="41605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질문과 가까운 경기 후보를 검색해 추천 근거로 사용</a:t>
            </a:r>
          </a:p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후보는 관중 수, 좌석 점유율, 혼잡도 기준으로 해석</a:t>
            </a:r>
          </a:p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LLM 답변은 데이터 기반 근거를 함께 제시하도록 설계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서비스 활용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21F2C"/>
                </a:solidFill>
                <a:latin typeface="Malgun Gothic"/>
              </a:defRPr>
            </a:pPr>
            <a:r>
              <a:t>가족 관람: 주말 경기 중 인기와 혼잡도를 함께 비교</a:t>
            </a:r>
          </a:p>
          <a:p>
            <a:pPr>
              <a:spcAft>
                <a:spcPts val="900"/>
              </a:spcAft>
              <a:defRPr sz="2000">
                <a:solidFill>
                  <a:srgbClr val="121F2C"/>
                </a:solidFill>
                <a:latin typeface="Malgun Gothic"/>
              </a:defRPr>
            </a:pPr>
            <a:r>
              <a:t>팬 관람: 특정 팀 경기 중 매진 가능성이 높은 경기 우선 안내</a:t>
            </a:r>
          </a:p>
          <a:p>
            <a:pPr>
              <a:spcAft>
                <a:spcPts val="900"/>
              </a:spcAft>
              <a:defRPr sz="2000">
                <a:solidFill>
                  <a:srgbClr val="121F2C"/>
                </a:solidFill>
                <a:latin typeface="Malgun Gothic"/>
              </a:defRPr>
            </a:pPr>
            <a:r>
              <a:t>여유 관람: 평일 또는 점유율 낮은 경기 추천</a:t>
            </a:r>
          </a:p>
          <a:p>
            <a:pPr>
              <a:spcAft>
                <a:spcPts val="900"/>
              </a:spcAft>
              <a:defRPr sz="2000">
                <a:solidFill>
                  <a:srgbClr val="121F2C"/>
                </a:solidFill>
                <a:latin typeface="Malgun Gothic"/>
              </a:defRPr>
            </a:pPr>
            <a:r>
              <a:t>구단 운영: 예상 관중 기반 매표/운영 인력 계획 보조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1783080"/>
            <a:ext cx="4160520" cy="2971800"/>
          </a:xfrm>
          <a:prstGeom prst="rect">
            <a:avLst/>
          </a:prstGeom>
          <a:solidFill>
            <a:srgbClr val="F6EBE2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2148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F7A4F"/>
                </a:solidFill>
                <a:latin typeface="Malgun Gothic"/>
              </a:rPr>
              <a:t>서비스 가치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78892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1F2C"/>
                </a:solidFill>
                <a:latin typeface="Malgun Gothic"/>
              </a:rPr>
              <a:t>예측 모델의 숫자를
실제 예매 행동으로 연결</a:t>
            </a: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프로토타입 시연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07492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477806"/>
            <a:ext cx="507492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6F58"/>
                </a:solidFill>
                <a:latin typeface="Malgun Gothic"/>
              </a:rPr>
              <a:t>캡쳐화면 필요: 예측/경기 추천 가이드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6F58"/>
                </a:solidFill>
                <a:latin typeface="Malgun Gothic"/>
              </a:rPr>
              <a:t>캡쳐화면 필요: AI 상담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88920"/>
            <a:ext cx="4251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21F2C"/>
                </a:solidFill>
                <a:latin typeface="Malgun Gothic"/>
              </a:rPr>
              <a:t>Streamlit 화면에서 날짜 선택,
경기별 예상 관중,
좌석 점유율과 예매 안내가 보이도록 캡쳐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788920"/>
            <a:ext cx="4251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21F2C"/>
                </a:solidFill>
                <a:latin typeface="Malgun Gothic"/>
              </a:rPr>
              <a:t>예시 질문 입력창,
LLM 답변,
추천 근거 경기 표가 함께 보이도록 캡쳐</a:t>
            </a:r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477806"/>
            <a:ext cx="6095847" cy="4877272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847" y="1600200"/>
            <a:ext cx="5841963" cy="4754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개선 및 한계점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날씨, 선발 투수, 팀 순위, 이벤트 정보 같은 실시간 변수가 부족함</a:t>
            </a:r>
          </a:p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LLM 답변은 검색된 데이터에 의존하므로 최신 정보 반영이 필요함</a:t>
            </a:r>
          </a:p>
          <a:p>
            <a:pPr>
              <a:spcAft>
                <a:spcPts val="900"/>
              </a:spcAft>
              <a:defRPr sz="1900">
                <a:solidFill>
                  <a:srgbClr val="121F2C"/>
                </a:solidFill>
                <a:latin typeface="Malgun Gothic"/>
              </a:defRPr>
            </a:pPr>
            <a:r>
              <a:t>현재는 로컬 Ollama 기반이라 실행 환경에 따라 응답 속도가 달라질 수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64C43"/>
                </a:solidFill>
                <a:latin typeface="Malgun Gothic"/>
              </a:defRPr>
            </a:pPr>
            <a:r>
              <a:t>개선: 날씨 API와 실시간 잔여 좌석 데이터 연동</a:t>
            </a:r>
          </a:p>
          <a:p>
            <a:pPr>
              <a:spcAft>
                <a:spcPts val="900"/>
              </a:spcAft>
              <a:defRPr sz="1900">
                <a:solidFill>
                  <a:srgbClr val="164C43"/>
                </a:solidFill>
                <a:latin typeface="Malgun Gothic"/>
              </a:defRPr>
            </a:pPr>
            <a:r>
              <a:t>개선: 실제 예매 로그 기반 개인화 추천</a:t>
            </a:r>
          </a:p>
          <a:p>
            <a:pPr>
              <a:spcAft>
                <a:spcPts val="900"/>
              </a:spcAft>
              <a:defRPr sz="1900">
                <a:solidFill>
                  <a:srgbClr val="164C43"/>
                </a:solidFill>
                <a:latin typeface="Malgun Gothic"/>
              </a:defRPr>
            </a:pPr>
            <a:r>
              <a:t>개선: 경기별 이벤트/상대 전적/순위 정보를 RAG 문서에 추가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58"/>
          </a:solidFill>
          <a:ln>
            <a:solidFill>
              <a:srgbClr val="1F6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96774"/>
                </a:solidFill>
                <a:latin typeface="Malgun Gothic"/>
              </a:rPr>
              <a:t>KBO 관중 예측 기반 LLM 경기 추천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F2C"/>
                </a:solidFill>
                <a:latin typeface="Malgun Gothic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55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latin typeface="Malgun Gothic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61872"/>
            <a:ext cx="11109960" cy="9144"/>
          </a:xfrm>
          <a:prstGeom prst="rect">
            <a:avLst/>
          </a:prstGeom>
          <a:solidFill>
            <a:srgbClr val="D6E0DC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691640"/>
            <a:ext cx="10058400" cy="3611880"/>
          </a:xfrm>
          <a:prstGeom prst="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14884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6F58"/>
                </a:solidFill>
                <a:latin typeface="Malgun Gothic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71800"/>
            <a:ext cx="8869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21F2C"/>
                </a:solidFill>
                <a:latin typeface="Malgun Gothic"/>
              </a:rPr>
              <a:t>KBO 관중 예측 모델을 기반으로,
사용자가 이해할 수 있는 추천과 예매 판단을 제공하는
LLM 경기 추천 가이드 서비스로 확장했다.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75488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96774"/>
                </a:solidFill>
                <a:latin typeface="Malgun Gothic"/>
              </a:rPr>
              <a:t>딥러닝은 예측을, LLM은 설명과 추천을 담당한다.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622</ep:Words>
  <ep:PresentationFormat>On-screen Show (4:3)</ep:PresentationFormat>
  <ep:Paragraphs>188</ep:Paragraphs>
  <ep:Slides>14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82104</cp:lastModifiedBy>
  <dcterms:modified xsi:type="dcterms:W3CDTF">2026-04-19T09:50:25.888</dcterms:modified>
  <cp:revision>4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